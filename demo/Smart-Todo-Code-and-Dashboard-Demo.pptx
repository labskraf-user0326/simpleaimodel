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1695" cy="6858000" type="wide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<Relationship Id="rId2" Type="http://schemas.openxmlformats.org/officeDocument/2006/relationships/slide" Target="slides/slide1.xml"/>
<Relationship Id="rId3" Type="http://schemas.openxmlformats.org/officeDocument/2006/relationships/slide" Target="slides/slide2.xml"/>
<Relationship Id="rId4" Type="http://schemas.openxmlformats.org/officeDocument/2006/relationships/slide" Target="slides/slide3.xml"/>
<Relationship Id="rId5" Type="http://schemas.openxmlformats.org/officeDocument/2006/relationships/slide" Target="slides/slide4.xml"/>
<Relationship Id="rId6" Type="http://schemas.openxmlformats.org/officeDocument/2006/relationships/slide" Target="slides/slide5.xml"/>
<Relationship Id="rId7" Type="http://schemas.openxmlformats.org/officeDocument/2006/relationships/slide" Target="slides/slide6.xml"/>
<Relationship Id="rId8" Type="http://schemas.openxmlformats.org/officeDocument/2006/relationships/slide" Target="slides/slide7.xml"/>
<Relationship Id="rId9" Type="http://schemas.openxmlformats.org/officeDocument/2006/relationships/slide" Target="slides/slide8.xml"/>
<Relationship Id="rId10" Type="http://schemas.openxmlformats.org/officeDocument/2006/relationships/slide" Target="slides/slide9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1" name="Background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0F172A"/>
          </a:solidFill>
          <a:ln>
            <a:noFill/>
          </a:ln>
        </p:spPr>
      </p:sp>
      <p:sp>
        <p:nvSpPr>
          <p:cNvPr id="1" name="Background"/>
          <p:cNvSpPr/>
          <p:nvPr/>
        </p:nvSpPr>
        <p:spPr>
          <a:xfrm>
            <a:off x="502920" y="1078992"/>
            <a:ext cx="132588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2" name="Text 2"/>
          <p:cNvSpPr txBox="1"/>
          <p:nvPr/>
        </p:nvSpPr>
        <p:spPr>
          <a:xfrm>
            <a:off x="502920" y="173736"/>
            <a:ext cx="11185855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3400" b="1">
                <a:solidFill>
                  <a:srgbClr val="FFFFFF"/>
                </a:solidFill>
              </a:rPr>
              <a:t>Smart Todo Priority Predictor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502920" y="877824"/>
            <a:ext cx="11185855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1900" b="0">
                <a:solidFill>
                  <a:srgbClr val="334155"/>
                </a:solidFill>
              </a:rPr>
              <a:t>A compact ML API with a dashboard, load-test hooks, and self-healing tests.</a:t>
            </a:r>
          </a:p>
        </p:txBody>
      </p:sp>
      <p:sp>
        <p:nvSpPr>
          <p:cNvPr id="1" name="Background"/>
          <p:cNvSpPr/>
          <p:nvPr/>
        </p:nvSpPr>
        <p:spPr>
          <a:xfrm>
            <a:off x="502920" y="1417320"/>
            <a:ext cx="11185855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4" name="Text 4"/>
          <p:cNvSpPr txBox="1"/>
          <p:nvPr/>
        </p:nvSpPr>
        <p:spPr>
          <a:xfrm>
            <a:off x="914400" y="1828800"/>
            <a:ext cx="10362895" cy="3474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2050" b="0">
                <a:solidFill>
                  <a:srgbClr val="0F172A"/>
                </a:solidFill>
              </a:rPr>
              <a:t>- Goal: classify tasks as High, Medium, or Low priority.</a:t>
            </a:r>
          </a:p>
          <a:p>
            <a:r>
              <a:rPr lang="en-US" sz="2050" b="0">
                <a:solidFill>
                  <a:srgbClr val="0F172A"/>
                </a:solidFill>
              </a:rPr>
              <a:t>- Main flow: data/tasks.csv -&gt; train.py -&gt; model.joblib -&gt; app.py -&gt; dashboard.</a:t>
            </a:r>
          </a:p>
          <a:p>
            <a:r>
              <a:rPr lang="en-US" sz="2050" b="0">
                <a:solidFill>
                  <a:srgbClr val="0F172A"/>
                </a:solidFill>
              </a:rPr>
              <a:t>- Demo URL: http://127.0.0.1:5000/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502920" y="6473952"/>
            <a:ext cx="64008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950" b="0">
                <a:solidFill>
                  <a:srgbClr val="64748B"/>
                </a:solidFill>
              </a:rPr>
              <a:t>Smart Todo API demo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10957255" y="6473952"/>
            <a:ext cx="7315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950" b="0">
                <a:solidFill>
                  <a:srgbClr val="64748B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1" name="Background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0F172A"/>
          </a:solidFill>
          <a:ln>
            <a:noFill/>
          </a:ln>
        </p:spPr>
      </p:sp>
      <p:sp>
        <p:nvSpPr>
          <p:cNvPr id="1" name="Background"/>
          <p:cNvSpPr/>
          <p:nvPr/>
        </p:nvSpPr>
        <p:spPr>
          <a:xfrm>
            <a:off x="502920" y="1078992"/>
            <a:ext cx="132588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2" name="Text 2"/>
          <p:cNvSpPr txBox="1"/>
          <p:nvPr/>
        </p:nvSpPr>
        <p:spPr>
          <a:xfrm>
            <a:off x="502920" y="173736"/>
            <a:ext cx="11185855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3400" b="1">
                <a:solidFill>
                  <a:srgbClr val="FFFFFF"/>
                </a:solidFill>
              </a:rPr>
              <a:t>Project Structure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502920" y="877824"/>
            <a:ext cx="11185855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1900" b="0">
                <a:solidFill>
                  <a:srgbClr val="334155"/>
                </a:solidFill>
              </a:rPr>
              <a:t>The repo is organized around one small end-to-end ML service.</a:t>
            </a:r>
          </a:p>
        </p:txBody>
      </p:sp>
      <p:sp>
        <p:nvSpPr>
          <p:cNvPr id="1" name="Background"/>
          <p:cNvSpPr/>
          <p:nvPr/>
        </p:nvSpPr>
        <p:spPr>
          <a:xfrm>
            <a:off x="502920" y="1417320"/>
            <a:ext cx="11185855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4" name="Text 4"/>
          <p:cNvSpPr txBox="1"/>
          <p:nvPr/>
        </p:nvSpPr>
        <p:spPr>
          <a:xfrm>
            <a:off x="914400" y="1828800"/>
            <a:ext cx="10362895" cy="3474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2050" b="0">
                <a:solidFill>
                  <a:srgbClr val="0F172A"/>
                </a:solidFill>
              </a:rPr>
              <a:t>- data/tasks.csv: 200 labeled task examples.</a:t>
            </a:r>
          </a:p>
          <a:p>
            <a:r>
              <a:rPr lang="en-US" sz="2050" b="0">
                <a:solidFill>
                  <a:srgbClr val="0F172A"/>
                </a:solidFill>
              </a:rPr>
              <a:t>- train.py: trains TF-IDF + Logistic Regression.</a:t>
            </a:r>
          </a:p>
          <a:p>
            <a:r>
              <a:rPr lang="en-US" sz="2050" b="0">
                <a:solidFill>
                  <a:srgbClr val="0F172A"/>
                </a:solidFill>
              </a:rPr>
              <a:t>- app.py: Flask API, dashboard routes, k6 and pytest runners.</a:t>
            </a:r>
          </a:p>
          <a:p>
            <a:r>
              <a:rPr lang="en-US" sz="2050" b="0">
                <a:solidFill>
                  <a:srgbClr val="0F172A"/>
                </a:solidFill>
              </a:rPr>
              <a:t>- templates/dashboard.html: browser UI for predictions, load tests, and tests.</a:t>
            </a:r>
          </a:p>
          <a:p>
            <a:r>
              <a:rPr lang="en-US" sz="2050" b="0">
                <a:solidFill>
                  <a:srgbClr val="0F172A"/>
                </a:solidFill>
              </a:rPr>
              <a:t>- tests/: API contract tests plus the field-alias resolver.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502920" y="6473952"/>
            <a:ext cx="64008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950" b="0">
                <a:solidFill>
                  <a:srgbClr val="64748B"/>
                </a:solidFill>
              </a:rPr>
              <a:t>Smart Todo API demo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10957255" y="6473952"/>
            <a:ext cx="7315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950" b="0">
                <a:solidFill>
                  <a:srgbClr val="64748B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1" name="Background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0F172A"/>
          </a:solidFill>
          <a:ln>
            <a:noFill/>
          </a:ln>
        </p:spPr>
      </p:sp>
      <p:sp>
        <p:nvSpPr>
          <p:cNvPr id="1" name="Background"/>
          <p:cNvSpPr/>
          <p:nvPr/>
        </p:nvSpPr>
        <p:spPr>
          <a:xfrm>
            <a:off x="502920" y="1078992"/>
            <a:ext cx="132588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2" name="Text 2"/>
          <p:cNvSpPr txBox="1"/>
          <p:nvPr/>
        </p:nvSpPr>
        <p:spPr>
          <a:xfrm>
            <a:off x="502920" y="173736"/>
            <a:ext cx="11185855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3400" b="1">
                <a:solidFill>
                  <a:srgbClr val="FFFFFF"/>
                </a:solidFill>
              </a:rPr>
              <a:t>Dataset And Training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502920" y="877824"/>
            <a:ext cx="11185855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1900" b="0">
                <a:solidFill>
                  <a:srgbClr val="334155"/>
                </a:solidFill>
              </a:rPr>
              <a:t>Training turns short task text into a priority classifier.</a:t>
            </a:r>
          </a:p>
        </p:txBody>
      </p:sp>
      <p:sp>
        <p:nvSpPr>
          <p:cNvPr id="1" name="Background"/>
          <p:cNvSpPr/>
          <p:nvPr/>
        </p:nvSpPr>
        <p:spPr>
          <a:xfrm>
            <a:off x="502920" y="1417320"/>
            <a:ext cx="11185855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4" name="Text 4"/>
          <p:cNvSpPr txBox="1"/>
          <p:nvPr/>
        </p:nvSpPr>
        <p:spPr>
          <a:xfrm>
            <a:off x="914400" y="1828800"/>
            <a:ext cx="10362895" cy="3474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2050" b="0">
                <a:solidFill>
                  <a:srgbClr val="0F172A"/>
                </a:solidFill>
              </a:rPr>
              <a:t>- Each CSV row has task text and a priority label.</a:t>
            </a:r>
          </a:p>
          <a:p>
            <a:r>
              <a:rPr lang="en-US" sz="2050" b="0">
                <a:solidFill>
                  <a:srgbClr val="0F172A"/>
                </a:solidFill>
              </a:rPr>
              <a:t>- TfidfVectorizer converts text into numeric features.</a:t>
            </a:r>
          </a:p>
          <a:p>
            <a:r>
              <a:rPr lang="en-US" sz="2050" b="0">
                <a:solidFill>
                  <a:srgbClr val="0F172A"/>
                </a:solidFill>
              </a:rPr>
              <a:t>- LogisticRegression learns which phrases point to High, Medium, or Low.</a:t>
            </a:r>
          </a:p>
          <a:p>
            <a:r>
              <a:rPr lang="en-US" sz="2050" b="0">
                <a:solidFill>
                  <a:srgbClr val="0F172A"/>
                </a:solidFill>
              </a:rPr>
              <a:t>- The final trained pipeline is saved to model.joblib.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502920" y="6473952"/>
            <a:ext cx="64008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950" b="0">
                <a:solidFill>
                  <a:srgbClr val="64748B"/>
                </a:solidFill>
              </a:rPr>
              <a:t>Smart Todo API demo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10957255" y="6473952"/>
            <a:ext cx="7315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950" b="0">
                <a:solidFill>
                  <a:srgbClr val="64748B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1" name="Background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0F172A"/>
          </a:solidFill>
          <a:ln>
            <a:noFill/>
          </a:ln>
        </p:spPr>
      </p:sp>
      <p:sp>
        <p:nvSpPr>
          <p:cNvPr id="1" name="Background"/>
          <p:cNvSpPr/>
          <p:nvPr/>
        </p:nvSpPr>
        <p:spPr>
          <a:xfrm>
            <a:off x="502920" y="1078992"/>
            <a:ext cx="132588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2" name="Text 2"/>
          <p:cNvSpPr txBox="1"/>
          <p:nvPr/>
        </p:nvSpPr>
        <p:spPr>
          <a:xfrm>
            <a:off x="502920" y="173736"/>
            <a:ext cx="11185855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3400" b="1">
                <a:solidFill>
                  <a:srgbClr val="FFFFFF"/>
                </a:solidFill>
              </a:rPr>
              <a:t>Flask API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502920" y="877824"/>
            <a:ext cx="11185855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1900" b="0">
                <a:solidFill>
                  <a:srgbClr val="334155"/>
                </a:solidFill>
              </a:rPr>
              <a:t>app.py loads the model once and exposes a small prediction API.</a:t>
            </a:r>
          </a:p>
        </p:txBody>
      </p:sp>
      <p:sp>
        <p:nvSpPr>
          <p:cNvPr id="1" name="Background"/>
          <p:cNvSpPr/>
          <p:nvPr/>
        </p:nvSpPr>
        <p:spPr>
          <a:xfrm>
            <a:off x="502920" y="1417320"/>
            <a:ext cx="11185855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4" name="Text 4"/>
          <p:cNvSpPr txBox="1"/>
          <p:nvPr/>
        </p:nvSpPr>
        <p:spPr>
          <a:xfrm>
            <a:off x="914400" y="1828800"/>
            <a:ext cx="10362895" cy="3474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2050" b="0">
                <a:solidFill>
                  <a:srgbClr val="0F172A"/>
                </a:solidFill>
              </a:rPr>
              <a:t>- GET /health returns status ok.</a:t>
            </a:r>
          </a:p>
          <a:p>
            <a:r>
              <a:rPr lang="en-US" sz="2050" b="0">
                <a:solidFill>
                  <a:srgbClr val="0F172A"/>
                </a:solidFill>
              </a:rPr>
              <a:t>- POST /predict expects JSON: {"task":"Fix production bug"}.</a:t>
            </a:r>
          </a:p>
          <a:p>
            <a:r>
              <a:rPr lang="en-US" sz="2050" b="0">
                <a:solidFill>
                  <a:srgbClr val="0F172A"/>
                </a:solidFill>
              </a:rPr>
              <a:t>- The model returns class probabilities; app.py selects the highest one.</a:t>
            </a:r>
          </a:p>
          <a:p>
            <a:r>
              <a:rPr lang="en-US" sz="2050" b="0">
                <a:solidFill>
                  <a:srgbClr val="0F172A"/>
                </a:solidFill>
              </a:rPr>
              <a:t>- Response shape: {"priority":"High", "confidence":0.9166}.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502920" y="6473952"/>
            <a:ext cx="64008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950" b="0">
                <a:solidFill>
                  <a:srgbClr val="64748B"/>
                </a:solidFill>
              </a:rPr>
              <a:t>Smart Todo API demo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10957255" y="6473952"/>
            <a:ext cx="7315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950" b="0">
                <a:solidFill>
                  <a:srgbClr val="64748B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1" name="Background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0F172A"/>
          </a:solidFill>
          <a:ln>
            <a:noFill/>
          </a:ln>
        </p:spPr>
      </p:sp>
      <p:sp>
        <p:nvSpPr>
          <p:cNvPr id="1" name="Background"/>
          <p:cNvSpPr/>
          <p:nvPr/>
        </p:nvSpPr>
        <p:spPr>
          <a:xfrm>
            <a:off x="502920" y="1078992"/>
            <a:ext cx="132588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2" name="Text 2"/>
          <p:cNvSpPr txBox="1"/>
          <p:nvPr/>
        </p:nvSpPr>
        <p:spPr>
          <a:xfrm>
            <a:off x="502920" y="173736"/>
            <a:ext cx="11185855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3400" b="1">
                <a:solidFill>
                  <a:srgbClr val="FFFFFF"/>
                </a:solidFill>
              </a:rPr>
              <a:t>Dashboard Walkthrough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502920" y="877824"/>
            <a:ext cx="11185855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1900" b="0">
                <a:solidFill>
                  <a:srgbClr val="334155"/>
                </a:solidFill>
              </a:rPr>
              <a:t>The first screen is the usable demo, not a landing page.</a:t>
            </a:r>
          </a:p>
        </p:txBody>
      </p:sp>
      <p:sp>
        <p:nvSpPr>
          <p:cNvPr id="1" name="Background"/>
          <p:cNvSpPr/>
          <p:nvPr/>
        </p:nvSpPr>
        <p:spPr>
          <a:xfrm>
            <a:off x="502920" y="1417320"/>
            <a:ext cx="11185855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4" name="Text 4"/>
          <p:cNvSpPr txBox="1"/>
          <p:nvPr/>
        </p:nvSpPr>
        <p:spPr>
          <a:xfrm>
            <a:off x="914400" y="1828800"/>
            <a:ext cx="10362895" cy="3474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2050" b="0">
                <a:solidFill>
                  <a:srgbClr val="0F172A"/>
                </a:solidFill>
              </a:rPr>
              <a:t>- Phase 1: type a task and click Predict.</a:t>
            </a:r>
          </a:p>
          <a:p>
            <a:r>
              <a:rPr lang="en-US" sz="2050" b="0">
                <a:solidFill>
                  <a:srgbClr val="0F172A"/>
                </a:solidFill>
              </a:rPr>
              <a:t>- Phase 2: configure request method, body, stages, VUs, and thresholds.</a:t>
            </a:r>
          </a:p>
          <a:p>
            <a:r>
              <a:rPr lang="en-US" sz="2050" b="0">
                <a:solidFill>
                  <a:srgbClr val="0F172A"/>
                </a:solidFill>
              </a:rPr>
              <a:t>- Phase 3: run tests against the original API or a mutated API.</a:t>
            </a:r>
          </a:p>
          <a:p>
            <a:r>
              <a:rPr lang="en-US" sz="2050" b="0">
                <a:solidFill>
                  <a:srgbClr val="0F172A"/>
                </a:solidFill>
              </a:rPr>
              <a:t>- The dashboard streams command output back into the browser.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502920" y="6473952"/>
            <a:ext cx="64008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950" b="0">
                <a:solidFill>
                  <a:srgbClr val="64748B"/>
                </a:solidFill>
              </a:rPr>
              <a:t>Smart Todo API demo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10957255" y="6473952"/>
            <a:ext cx="7315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950" b="0">
                <a:solidFill>
                  <a:srgbClr val="64748B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1" name="Background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0F172A"/>
          </a:solidFill>
          <a:ln>
            <a:noFill/>
          </a:ln>
        </p:spPr>
      </p:sp>
      <p:sp>
        <p:nvSpPr>
          <p:cNvPr id="1" name="Background"/>
          <p:cNvSpPr/>
          <p:nvPr/>
        </p:nvSpPr>
        <p:spPr>
          <a:xfrm>
            <a:off x="502920" y="1078992"/>
            <a:ext cx="132588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2" name="Text 2"/>
          <p:cNvSpPr txBox="1"/>
          <p:nvPr/>
        </p:nvSpPr>
        <p:spPr>
          <a:xfrm>
            <a:off x="502920" y="173736"/>
            <a:ext cx="11185855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3400" b="1">
                <a:solidFill>
                  <a:srgbClr val="FFFFFF"/>
                </a:solidFill>
              </a:rPr>
              <a:t>Self-Healing Tests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502920" y="877824"/>
            <a:ext cx="11185855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1900" b="0">
                <a:solidFill>
                  <a:srgbClr val="334155"/>
                </a:solidFill>
              </a:rPr>
              <a:t>The tests tolerate small response-field renames while still warning you.</a:t>
            </a:r>
          </a:p>
        </p:txBody>
      </p:sp>
      <p:sp>
        <p:nvSpPr>
          <p:cNvPr id="1" name="Background"/>
          <p:cNvSpPr/>
          <p:nvPr/>
        </p:nvSpPr>
        <p:spPr>
          <a:xfrm>
            <a:off x="502920" y="1417320"/>
            <a:ext cx="11185855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4" name="Text 4"/>
          <p:cNvSpPr txBox="1"/>
          <p:nvPr/>
        </p:nvSpPr>
        <p:spPr>
          <a:xfrm>
            <a:off x="914400" y="1828800"/>
            <a:ext cx="10362895" cy="3474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2050" b="0">
                <a:solidFill>
                  <a:srgbClr val="0F172A"/>
                </a:solidFill>
              </a:rPr>
              <a:t>- Canonical fields: priority and confidence.</a:t>
            </a:r>
          </a:p>
          <a:p>
            <a:r>
              <a:rPr lang="en-US" sz="2050" b="0">
                <a:solidFill>
                  <a:srgbClr val="0F172A"/>
                </a:solidFill>
              </a:rPr>
              <a:t>- Known aliases: priority -&gt; level, urgency, rank, severity, importance.</a:t>
            </a:r>
          </a:p>
          <a:p>
            <a:r>
              <a:rPr lang="en-US" sz="2050" b="0">
                <a:solidFill>
                  <a:srgbClr val="0F172A"/>
                </a:solidFill>
              </a:rPr>
              <a:t>- Known aliases: confidence -&gt; score, probability, certainty, prob.</a:t>
            </a:r>
          </a:p>
          <a:p>
            <a:r>
              <a:rPr lang="en-US" sz="2050" b="0">
                <a:solidFill>
                  <a:srgbClr val="0F172A"/>
                </a:solidFill>
              </a:rPr>
              <a:t>- If an alias is used, tests pass with a visible WARNING.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502920" y="6473952"/>
            <a:ext cx="64008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950" b="0">
                <a:solidFill>
                  <a:srgbClr val="64748B"/>
                </a:solidFill>
              </a:rPr>
              <a:t>Smart Todo API demo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10957255" y="6473952"/>
            <a:ext cx="7315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950" b="0">
                <a:solidFill>
                  <a:srgbClr val="64748B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1" name="Background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0F172A"/>
          </a:solidFill>
          <a:ln>
            <a:noFill/>
          </a:ln>
        </p:spPr>
      </p:sp>
      <p:sp>
        <p:nvSpPr>
          <p:cNvPr id="1" name="Background"/>
          <p:cNvSpPr/>
          <p:nvPr/>
        </p:nvSpPr>
        <p:spPr>
          <a:xfrm>
            <a:off x="502920" y="1078992"/>
            <a:ext cx="132588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2" name="Text 2"/>
          <p:cNvSpPr txBox="1"/>
          <p:nvPr/>
        </p:nvSpPr>
        <p:spPr>
          <a:xfrm>
            <a:off x="502920" y="173736"/>
            <a:ext cx="11185855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3400" b="1">
                <a:solidFill>
                  <a:srgbClr val="FFFFFF"/>
                </a:solidFill>
              </a:rPr>
              <a:t>Load-Test Support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502920" y="877824"/>
            <a:ext cx="11185855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1900" b="0">
                <a:solidFill>
                  <a:srgbClr val="334155"/>
                </a:solidFill>
              </a:rPr>
              <a:t>The dashboard can drive k6 scripts once k6 is installed.</a:t>
            </a:r>
          </a:p>
        </p:txBody>
      </p:sp>
      <p:sp>
        <p:nvSpPr>
          <p:cNvPr id="1" name="Background"/>
          <p:cNvSpPr/>
          <p:nvPr/>
        </p:nvSpPr>
        <p:spPr>
          <a:xfrm>
            <a:off x="502920" y="1417320"/>
            <a:ext cx="11185855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4" name="Text 4"/>
          <p:cNvSpPr txBox="1"/>
          <p:nvPr/>
        </p:nvSpPr>
        <p:spPr>
          <a:xfrm>
            <a:off x="914400" y="1828800"/>
            <a:ext cx="10362895" cy="3474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2050" b="0">
                <a:solidFill>
                  <a:srgbClr val="0F172A"/>
                </a:solidFill>
              </a:rPr>
              <a:t>- k6/load.js receives its settings from environment variables.</a:t>
            </a:r>
          </a:p>
          <a:p>
            <a:r>
              <a:rPr lang="en-US" sz="2050" b="0">
                <a:solidFill>
                  <a:srgbClr val="0F172A"/>
                </a:solidFill>
              </a:rPr>
              <a:t>- reports/analysis.md summarizes ramp-up and spike results.</a:t>
            </a:r>
          </a:p>
          <a:p>
            <a:r>
              <a:rPr lang="en-US" sz="2050" b="0">
                <a:solidFill>
                  <a:srgbClr val="0F172A"/>
                </a:solidFill>
              </a:rPr>
              <a:t>- Previous result: ramp-up passed; spike revealed Flask dev-server limits.</a:t>
            </a:r>
          </a:p>
          <a:p>
            <a:r>
              <a:rPr lang="en-US" sz="2050" b="0">
                <a:solidFill>
                  <a:srgbClr val="0F172A"/>
                </a:solidFill>
              </a:rPr>
              <a:t>- This identifies the server as the bottleneck, not the ML model.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502920" y="6473952"/>
            <a:ext cx="64008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950" b="0">
                <a:solidFill>
                  <a:srgbClr val="64748B"/>
                </a:solidFill>
              </a:rPr>
              <a:t>Smart Todo API demo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10957255" y="6473952"/>
            <a:ext cx="7315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950" b="0">
                <a:solidFill>
                  <a:srgbClr val="64748B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1" name="Background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0F172A"/>
          </a:solidFill>
          <a:ln>
            <a:noFill/>
          </a:ln>
        </p:spPr>
      </p:sp>
      <p:sp>
        <p:nvSpPr>
          <p:cNvPr id="1" name="Background"/>
          <p:cNvSpPr/>
          <p:nvPr/>
        </p:nvSpPr>
        <p:spPr>
          <a:xfrm>
            <a:off x="502920" y="1078992"/>
            <a:ext cx="132588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2" name="Text 2"/>
          <p:cNvSpPr txBox="1"/>
          <p:nvPr/>
        </p:nvSpPr>
        <p:spPr>
          <a:xfrm>
            <a:off x="502920" y="173736"/>
            <a:ext cx="11185855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3400" b="1">
                <a:solidFill>
                  <a:srgbClr val="FFFFFF"/>
                </a:solidFill>
              </a:rPr>
              <a:t>Live Demo Script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502920" y="877824"/>
            <a:ext cx="11185855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1900" b="0">
                <a:solidFill>
                  <a:srgbClr val="334155"/>
                </a:solidFill>
              </a:rPr>
              <a:t>Recommended order for presenting the project.</a:t>
            </a:r>
          </a:p>
        </p:txBody>
      </p:sp>
      <p:sp>
        <p:nvSpPr>
          <p:cNvPr id="1" name="Background"/>
          <p:cNvSpPr/>
          <p:nvPr/>
        </p:nvSpPr>
        <p:spPr>
          <a:xfrm>
            <a:off x="502920" y="1417320"/>
            <a:ext cx="11185855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4" name="Text 4"/>
          <p:cNvSpPr txBox="1"/>
          <p:nvPr/>
        </p:nvSpPr>
        <p:spPr>
          <a:xfrm>
            <a:off x="914400" y="1828800"/>
            <a:ext cx="10362895" cy="3474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2050" b="0">
                <a:solidFill>
                  <a:srgbClr val="0F172A"/>
                </a:solidFill>
              </a:rPr>
              <a:t>- 1. Open data/tasks.csv and show example labels.</a:t>
            </a:r>
          </a:p>
          <a:p>
            <a:r>
              <a:rPr lang="en-US" sz="2050" b="0">
                <a:solidFill>
                  <a:srgbClr val="0F172A"/>
                </a:solidFill>
              </a:rPr>
              <a:t>- 2. Open train.py and explain TF-IDF + Logistic Regression.</a:t>
            </a:r>
          </a:p>
          <a:p>
            <a:r>
              <a:rPr lang="en-US" sz="2050" b="0">
                <a:solidFill>
                  <a:srgbClr val="0F172A"/>
                </a:solidFill>
              </a:rPr>
              <a:t>- 3. Open app.py and explain /predict.</a:t>
            </a:r>
          </a:p>
          <a:p>
            <a:r>
              <a:rPr lang="en-US" sz="2050" b="0">
                <a:solidFill>
                  <a:srgbClr val="0F172A"/>
                </a:solidFill>
              </a:rPr>
              <a:t>- 4. Open dashboard, run three sample predictions.</a:t>
            </a:r>
          </a:p>
          <a:p>
            <a:r>
              <a:rPr lang="en-US" sz="2050" b="0">
                <a:solidFill>
                  <a:srgbClr val="0F172A"/>
                </a:solidFill>
              </a:rPr>
              <a:t>- 5. Run original and mutated self-healing tests.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502920" y="6473952"/>
            <a:ext cx="64008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950" b="0">
                <a:solidFill>
                  <a:srgbClr val="64748B"/>
                </a:solidFill>
              </a:rPr>
              <a:t>Smart Todo API demo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10957255" y="6473952"/>
            <a:ext cx="7315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950" b="0">
                <a:solidFill>
                  <a:srgbClr val="64748B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1" name="Background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0F172A"/>
          </a:solidFill>
          <a:ln>
            <a:noFill/>
          </a:ln>
        </p:spPr>
      </p:sp>
      <p:sp>
        <p:nvSpPr>
          <p:cNvPr id="1" name="Background"/>
          <p:cNvSpPr/>
          <p:nvPr/>
        </p:nvSpPr>
        <p:spPr>
          <a:xfrm>
            <a:off x="502920" y="1078992"/>
            <a:ext cx="132588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2" name="Text 2"/>
          <p:cNvSpPr txBox="1"/>
          <p:nvPr/>
        </p:nvSpPr>
        <p:spPr>
          <a:xfrm>
            <a:off x="502920" y="173736"/>
            <a:ext cx="11185855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3400" b="1">
                <a:solidFill>
                  <a:srgbClr val="FFFFFF"/>
                </a:solidFill>
              </a:rPr>
              <a:t>Close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502920" y="877824"/>
            <a:ext cx="11185855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1900" b="0">
                <a:solidFill>
                  <a:srgbClr val="334155"/>
                </a:solidFill>
              </a:rPr>
              <a:t>A complete mini lifecycle for a simple AI-backed API.</a:t>
            </a:r>
          </a:p>
        </p:txBody>
      </p:sp>
      <p:sp>
        <p:nvSpPr>
          <p:cNvPr id="1" name="Background"/>
          <p:cNvSpPr/>
          <p:nvPr/>
        </p:nvSpPr>
        <p:spPr>
          <a:xfrm>
            <a:off x="502920" y="1417320"/>
            <a:ext cx="11185855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4" name="Text 4"/>
          <p:cNvSpPr txBox="1"/>
          <p:nvPr/>
        </p:nvSpPr>
        <p:spPr>
          <a:xfrm>
            <a:off x="914400" y="1828800"/>
            <a:ext cx="10362895" cy="3474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2050" b="0">
                <a:solidFill>
                  <a:srgbClr val="0F172A"/>
                </a:solidFill>
              </a:rPr>
              <a:t>- Training, serving, dashboard UX, performance hooks, and API contract tests.</a:t>
            </a:r>
          </a:p>
          <a:p>
            <a:r>
              <a:rPr lang="en-US" sz="2050" b="0">
                <a:solidFill>
                  <a:srgbClr val="0F172A"/>
                </a:solidFill>
              </a:rPr>
              <a:t>- Easy to run locally: .venv/bin/python app.py.</a:t>
            </a:r>
          </a:p>
          <a:p>
            <a:r>
              <a:rPr lang="en-US" sz="2050" b="0">
                <a:solidFill>
                  <a:srgbClr val="0F172A"/>
                </a:solidFill>
              </a:rPr>
              <a:t>- Useful next step: install k6 and run the dashboard load-test builder live.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502920" y="6473952"/>
            <a:ext cx="64008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950" b="0">
                <a:solidFill>
                  <a:srgbClr val="64748B"/>
                </a:solidFill>
              </a:rPr>
              <a:t>Smart Todo API demo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10957255" y="6473952"/>
            <a:ext cx="7315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950" b="0">
                <a:solidFill>
                  <a:srgbClr val="64748B"/>
                </a:solidFill>
              </a:rPr>
              <a:t>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martTodo">
  <a:themeElements>
    <a:clrScheme name="SmartTodo">
      <a:dk1>
        <a:srgbClr val="0F172A"/>
      </a:dk1>
      <a:lt1>
        <a:srgbClr val="FFFFFF"/>
      </a:lt1>
      <a:dk2>
        <a:srgbClr val="334155"/>
      </a:dk2>
      <a:lt2>
        <a:srgbClr val="F8FAFC"/>
      </a:lt2>
      <a:accent1>
        <a:srgbClr val="2563EB"/>
      </a:accent1>
      <a:accent2>
        <a:srgbClr val="16A34A"/>
      </a:accent2>
      <a:accent3>
        <a:srgbClr val="F59E0B"/>
      </a:accent3>
      <a:accent4>
        <a:srgbClr val="DC2626"/>
      </a:accent4>
      <a:accent5>
        <a:srgbClr val="7C3AED"/>
      </a:accent5>
      <a:accent6>
        <a:srgbClr val="0891B2"/>
      </a:accent6>
      <a:hlink>
        <a:srgbClr val="2563EB"/>
      </a:hlink>
      <a:folHlink>
        <a:srgbClr val="7C3AED"/>
      </a:folHlink>
    </a:clrScheme>
    <a:fontScheme name="Office">
      <a:majorFont>
        <a:latin typeface="Aptos Display"/>
      </a:majorFont>
      <a:minorFont>
        <a:latin typeface="Aptos"/>
      </a:minorFont>
    </a:fontScheme>
    <a:fmtScheme name="Office">
      <a:fillStyleLst/>
      <a:lnStyleLst/>
      <a:effectStyleLst/>
      <a:bgFillStyleLst/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</Application>
  <PresentationFormat>On-screen Show (16:9)</PresentationFormat>
  <Slides>9</Slides>
  <Company>LabsKraf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Todo Code And Dashboard Demo</dc:title>
  <dc:creator>Codex</dc:creator>
  <cp:lastModifiedBy>Codex</cp:lastModifiedBy>
  <dcterms:created xsi:type="dcterms:W3CDTF">2026-05-29T10:12:28+00:00</dcterms:created>
  <dcterms:modified xsi:type="dcterms:W3CDTF">2026-05-29T10:12:28+00:00</dcterms:modified>
</cp:coreProperties>
</file>